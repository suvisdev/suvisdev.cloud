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4114800"/>
            <a:ext cx="4572000" cy="4572000"/>
          </a:xfrm>
          <a:prstGeom prst="ellipse">
            <a:avLst/>
          </a:prstGeom>
          <a:solidFill>
            <a:srgbClr val="E9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Pretendard"/>
              </a:defRPr>
            </a:pPr>
            <a:r>
              <a:t>MOVA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0B0C0"/>
                </a:solidFill>
                <a:latin typeface="Pretendard"/>
              </a:defRPr>
            </a:pPr>
            <a:r>
              <a:t>AI 기반 영화 추천 채팅 + 리뷰·랭킹·미니게임 풀스택 서비스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A9A"/>
                </a:solidFill>
                <a:latin typeface="Pretendard"/>
              </a:defRPr>
            </a:pPr>
            <a:r>
              <a:t>Hexagonal Clean Architecture  |  Hybrid GPU  |  Personalized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2FF"/>
                </a:solidFill>
                <a:latin typeface="Pretendard"/>
              </a:defRPr>
            </a:pPr>
            <a:r>
              <a:t>2026.08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프로젝트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02920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Pretendard"/>
              </a:defRPr>
            </a:pPr>
            <a:r>
              <a:t>무엇을 만들었나?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B0B0C0"/>
                </a:solidFill>
                <a:latin typeface="Pretendard"/>
              </a:defRPr>
            </a:pPr>
            <a:r>
              <a:t>AI 기반 영화 추천 채팅 서비스</a:t>
            </a:r>
          </a:p>
          <a:p>
            <a:pPr>
              <a:spcAft>
                <a:spcPts val="900"/>
              </a:spcAft>
              <a:defRPr sz="1500">
                <a:solidFill>
                  <a:srgbClr val="B0B0C0"/>
                </a:solidFill>
                <a:latin typeface="Pretendard"/>
              </a:defRPr>
            </a:pPr>
            <a:r>
              <a:t>• 자연어로 영화 추천 요청 → 개인화 결과 반환</a:t>
            </a:r>
          </a:p>
          <a:p>
            <a:pPr>
              <a:spcAft>
                <a:spcPts val="900"/>
              </a:spcAft>
              <a:defRPr sz="1500">
                <a:solidFill>
                  <a:srgbClr val="B0B0C0"/>
                </a:solidFill>
                <a:latin typeface="Pretendard"/>
              </a:defRPr>
            </a:pPr>
            <a:r>
              <a:t>• 리뷰 기반 취향 벡터로 재정렬</a:t>
            </a:r>
          </a:p>
          <a:p>
            <a:pPr>
              <a:spcAft>
                <a:spcPts val="900"/>
              </a:spcAft>
              <a:defRPr sz="1500">
                <a:solidFill>
                  <a:srgbClr val="B0B0C0"/>
                </a:solidFill>
                <a:latin typeface="Pretendard"/>
              </a:defRPr>
            </a:pPr>
            <a:r>
              <a:t>• 랭킹·찜·미니게임(초성퀴즈) 등 부가 기능</a:t>
            </a:r>
          </a:p>
          <a:p>
            <a:pPr>
              <a:spcAft>
                <a:spcPts val="900"/>
              </a:spcAft>
              <a:defRPr sz="1500">
                <a:solidFill>
                  <a:srgbClr val="B0B0C0"/>
                </a:solidFill>
                <a:latin typeface="Pretendard"/>
              </a:defRPr>
            </a:pPr>
          </a:p>
          <a:p>
            <a:pPr>
              <a:spcAft>
                <a:spcPts val="900"/>
              </a:spcAft>
              <a:defRPr sz="1500">
                <a:solidFill>
                  <a:srgbClr val="B0B0C0"/>
                </a:solidFill>
                <a:latin typeface="Pretendard"/>
              </a:defRPr>
            </a:pPr>
            <a:r>
              <a:t>1인 풀스택 개발 (백엔드 + 프론트 + 모바일 + 인프라)</a:t>
            </a:r>
          </a:p>
          <a:p>
            <a:pPr>
              <a:spcAft>
                <a:spcPts val="900"/>
              </a:spcAft>
              <a:defRPr sz="1500">
                <a:solidFill>
                  <a:srgbClr val="B0B0C0"/>
                </a:solidFill>
                <a:latin typeface="Pretendard"/>
              </a:defRPr>
            </a:pPr>
            <a:r>
              <a:t>504+ 커밋  |  547개 테스트  |  12개 앱 모듈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246888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2FF"/>
                </a:solidFill>
                <a:latin typeface="Pretendard"/>
              </a:defRPr>
            </a:pPr>
            <a:r>
              <a:t>2,014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834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Pretendard"/>
              </a:defRPr>
            </a:pPr>
            <a:r>
              <a:t>영화 카탈로그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463040"/>
            <a:ext cx="246888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1828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53E091"/>
                </a:solidFill>
                <a:latin typeface="Pretendard"/>
              </a:defRPr>
            </a:pPr>
            <a:r>
              <a:t>547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834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Pretendard"/>
              </a:defRPr>
            </a:pPr>
            <a:r>
              <a:t>테스트 케이스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931920"/>
            <a:ext cx="246888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2976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C107"/>
                </a:solidFill>
                <a:latin typeface="Pretendard"/>
              </a:defRPr>
            </a:pPr>
            <a: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5303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Pretendard"/>
              </a:defRPr>
            </a:pPr>
            <a:r>
              <a:t>백엔드 앱 모듈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931920"/>
            <a:ext cx="246888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42976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94D6B"/>
                </a:solidFill>
                <a:latin typeface="Pretendard"/>
              </a:defRPr>
            </a:pPr>
            <a:r>
              <a:t>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5303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Pretendard"/>
              </a:defRPr>
            </a:pPr>
            <a:r>
              <a:t>DB 마이그레이션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9A"/>
                </a:solidFill>
                <a:latin typeface="Pretendard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기술 스택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73152" cy="228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Pretendard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FastAPI · SQLAlchemy 2.0 async</a:t>
            </a:r>
          </a:p>
          <a:p>
            <a:pPr>
              <a:spcAft>
                <a:spcPts val="4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PostgreSQL + pgvector · Alembic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1371600"/>
            <a:ext cx="73152" cy="2286000"/>
          </a:xfrm>
          <a:prstGeom prst="rect">
            <a:avLst/>
          </a:prstGeom>
          <a:solidFill>
            <a:srgbClr val="E9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4D6B"/>
                </a:solidFill>
                <a:latin typeface="Pretendard"/>
              </a:defRPr>
            </a:pPr>
            <a:r>
              <a:t>AI /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8600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Gemini API (추천·임베딩·OCR)</a:t>
            </a:r>
          </a:p>
          <a:p>
            <a:pPr>
              <a:spcAft>
                <a:spcPts val="4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EXAONE LoRA (로컬 GPU) · Ollama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73152" cy="2286000"/>
          </a:xfrm>
          <a:prstGeom prst="rect">
            <a:avLst/>
          </a:prstGeom>
          <a:solidFill>
            <a:srgbClr val="53E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3E091"/>
                </a:solidFill>
                <a:latin typeface="Pretendard"/>
              </a:defRPr>
            </a:pPr>
            <a: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pgvector HNSW 인덱스</a:t>
            </a:r>
          </a:p>
          <a:p>
            <a:pPr>
              <a:spcAft>
                <a:spcPts val="4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코사인 유사도 시맨틱 검색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37160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0" y="1371600"/>
            <a:ext cx="73152" cy="2286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Pretendard"/>
              </a:defRPr>
            </a:pPr>
            <a: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28600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Next.js 15 (App Router, RSC)</a:t>
            </a:r>
          </a:p>
          <a:p>
            <a:pPr>
              <a:spcAft>
                <a:spcPts val="4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Tailwind CSS v4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3192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31920"/>
            <a:ext cx="73152" cy="2286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06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B47BC"/>
                </a:solidFill>
                <a:latin typeface="Pretendard"/>
              </a:defRPr>
            </a:pPr>
            <a:r>
              <a:t>Mobile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463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Flutter</a:t>
            </a:r>
          </a:p>
          <a:p>
            <a:pPr>
              <a:spcAft>
                <a:spcPts val="4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Dio + Riverpod + go_router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393192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3931920"/>
            <a:ext cx="73152" cy="2286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4206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043"/>
                </a:solidFill>
                <a:latin typeface="Pretendard"/>
              </a:defRPr>
            </a:pPr>
            <a:r>
              <a:t>Infra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8463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AWS EC2 · Docker Compose</a:t>
            </a:r>
          </a:p>
          <a:p>
            <a:pPr>
              <a:spcAft>
                <a:spcPts val="4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Cloudflare Tunnel · S3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93192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931920"/>
            <a:ext cx="73152" cy="228600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C6DA"/>
                </a:solidFill>
                <a:latin typeface="Pretendard"/>
              </a:defRPr>
            </a:pPr>
            <a:r>
              <a:t>Graph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463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Neo4j</a:t>
            </a:r>
          </a:p>
          <a:p>
            <a:pPr>
              <a:spcAft>
                <a:spcPts val="4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GraphRAG + 768d 벡터 인덱스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393192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52560" y="3931920"/>
            <a:ext cx="73152" cy="22860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4206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8909C"/>
                </a:solidFill>
                <a:latin typeface="Pretendard"/>
              </a:defRPr>
            </a:pPr>
            <a:r>
              <a:t>Quality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84632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ruff · mypy strict</a:t>
            </a:r>
          </a:p>
          <a:p>
            <a:pPr>
              <a:spcAft>
                <a:spcPts val="4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import-linter · pytest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9A"/>
                </a:solidFill>
                <a:latin typeface="Pretendard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Hexagonal Clean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A7A9A"/>
                </a:solidFill>
                <a:latin typeface="Pretendard"/>
              </a:defRPr>
            </a:pPr>
            <a:r>
              <a:t>Ports &amp; Adapters + 모듈러 모놀리식 + Star Topology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645920"/>
            <a:ext cx="4572000" cy="457200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Pretendard"/>
              </a:defRPr>
            </a:pPr>
            <a:r>
              <a:t>Adapter Layer</a:t>
            </a:r>
          </a:p>
        </p:txBody>
      </p:sp>
      <p:sp>
        <p:nvSpPr>
          <p:cNvPr id="6" name="Oval 5"/>
          <p:cNvSpPr/>
          <p:nvPr/>
        </p:nvSpPr>
        <p:spPr>
          <a:xfrm>
            <a:off x="2103120" y="2377440"/>
            <a:ext cx="3108960" cy="3108960"/>
          </a:xfrm>
          <a:prstGeom prst="ellipse">
            <a:avLst/>
          </a:prstGeom>
          <a:solidFill>
            <a:srgbClr val="1A2E50"/>
          </a:solidFill>
          <a:ln w="25400">
            <a:solidFill>
              <a:srgbClr val="53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3E091"/>
                </a:solidFill>
                <a:latin typeface="Pretendard"/>
              </a:defRPr>
            </a:pPr>
            <a:r>
              <a:t>Port Layer</a:t>
            </a:r>
          </a:p>
        </p:txBody>
      </p:sp>
      <p:sp>
        <p:nvSpPr>
          <p:cNvPr id="8" name="Oval 7"/>
          <p:cNvSpPr/>
          <p:nvPr/>
        </p:nvSpPr>
        <p:spPr>
          <a:xfrm>
            <a:off x="2743200" y="3017520"/>
            <a:ext cx="1828800" cy="1828800"/>
          </a:xfrm>
          <a:prstGeom prst="ellipse">
            <a:avLst/>
          </a:prstGeom>
          <a:solidFill>
            <a:srgbClr val="2D134E"/>
          </a:solidFill>
          <a:ln w="25400">
            <a:solidFill>
              <a:srgbClr val="E94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Domain</a:t>
            </a:r>
            <a:br/>
            <a:r>
              <a:t>&amp; Use Case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1965960"/>
            <a:ext cx="182880" cy="1828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Pretendard"/>
              </a:defRPr>
            </a:pPr>
            <a:r>
              <a:t>Router (Inbound)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148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7A9A"/>
                </a:solidFill>
                <a:latin typeface="Pretendard"/>
              </a:defRPr>
            </a:pPr>
            <a:r>
              <a:t>FastAPI 엔드포인트, Schema 수신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0" y="2880360"/>
            <a:ext cx="182880" cy="182880"/>
          </a:xfrm>
          <a:prstGeom prst="ellipse">
            <a:avLst/>
          </a:prstGeom>
          <a:solidFill>
            <a:srgbClr val="53E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3E091"/>
                </a:solidFill>
                <a:latin typeface="Pretendard"/>
              </a:defRPr>
            </a:pPr>
            <a:r>
              <a:t>Input Port (ABC)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63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7A9A"/>
                </a:solidFill>
                <a:latin typeface="Pretendard"/>
              </a:defRPr>
            </a:pPr>
            <a:r>
              <a:t>Use Case 인터페이스 정의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0" y="3794760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retendard"/>
              </a:defRPr>
            </a:pPr>
            <a:r>
              <a:t>Interactor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7A9A"/>
                </a:solidFill>
                <a:latin typeface="Pretendard"/>
              </a:defRPr>
            </a:pPr>
            <a:r>
              <a:t>Schema→Command→Port 호출→Dto 반환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4709160"/>
            <a:ext cx="182880" cy="182880"/>
          </a:xfrm>
          <a:prstGeom prst="ellipse">
            <a:avLst/>
          </a:prstGeom>
          <a:solidFill>
            <a:srgbClr val="53E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3E091"/>
                </a:solidFill>
                <a:latin typeface="Pretendard"/>
              </a:defRPr>
            </a:pPr>
            <a:r>
              <a:t>Output Port (ABC)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892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7A9A"/>
                </a:solidFill>
                <a:latin typeface="Pretendard"/>
              </a:defRPr>
            </a:pPr>
            <a:r>
              <a:t>Repository 인터페이스 정의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5623560"/>
            <a:ext cx="182880" cy="1828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486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Pretendard"/>
              </a:defRPr>
            </a:pPr>
            <a:r>
              <a:t>PgRepository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806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7A9A"/>
                </a:solidFill>
                <a:latin typeface="Pretendard"/>
              </a:defRPr>
            </a:pPr>
            <a:r>
              <a:t>ORM, DB 접근 (Outbound Adapter)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754880"/>
            <a:ext cx="50292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Pretendard"/>
              </a:defRPr>
            </a:pPr>
            <a:r>
              <a:t>Star Topology (Hub-and-Spoke)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3035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200">
                <a:solidFill>
                  <a:srgbClr val="B0B0C0"/>
                </a:solidFill>
                <a:latin typeface="Pretendard"/>
              </a:defRPr>
            </a:pPr>
            <a:r>
              <a:t>ontology(Hub) ← 12개 Spoke 앱</a:t>
            </a:r>
          </a:p>
          <a:p>
            <a:pPr>
              <a:spcAft>
                <a:spcPts val="479"/>
              </a:spcAft>
              <a:defRPr sz="1200">
                <a:solidFill>
                  <a:srgbClr val="B0B0C0"/>
                </a:solidFill>
                <a:latin typeface="Pretendard"/>
              </a:defRPr>
            </a:pPr>
            <a:r>
              <a:t>import-linter가 Spoke 간 직접 import 차단</a:t>
            </a:r>
          </a:p>
          <a:p>
            <a:pPr>
              <a:spcAft>
                <a:spcPts val="479"/>
              </a:spcAft>
              <a:defRPr sz="1200">
                <a:solidFill>
                  <a:srgbClr val="B0B0C0"/>
                </a:solidFill>
                <a:latin typeface="Pretendard"/>
              </a:defRPr>
            </a:pPr>
            <a:r>
              <a:t>어댑터 교체만으로 LLM/DB 환경 전환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9A"/>
                </a:solidFill>
                <a:latin typeface="Pretendard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하이브리드 GPU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2FF"/>
                </a:solidFill>
                <a:latin typeface="Pretendard"/>
              </a:defRPr>
            </a:pPr>
            <a:r>
              <a:t>GPU 인스턴스 없이 LLM 추천 운영 — 월 $77 vs $160+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11480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3E091"/>
                </a:solidFill>
                <a:latin typeface="Pretendard"/>
              </a:defRPr>
            </a:pPr>
            <a:r>
              <a:t>로컬 노트북 (RTX 4060)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B0B0C0"/>
                </a:solidFill>
                <a:latin typeface="Pretendard"/>
              </a:defRPr>
            </a:pPr>
            <a:r>
              <a:t>EXAONE-2.4B AWQ LoRA</a:t>
            </a:r>
          </a:p>
          <a:p>
            <a:pPr>
              <a:spcAft>
                <a:spcPts val="700"/>
              </a:spcAft>
              <a:defRPr sz="1400">
                <a:solidFill>
                  <a:srgbClr val="B0B0C0"/>
                </a:solidFill>
                <a:latin typeface="Pretendard"/>
              </a:defRPr>
            </a:pPr>
            <a:r>
              <a:t>lora-server (systemd, :8200)</a:t>
            </a:r>
          </a:p>
          <a:p>
            <a:pPr>
              <a:spcAft>
                <a:spcPts val="700"/>
              </a:spcAft>
              <a:defRPr sz="1400">
                <a:solidFill>
                  <a:srgbClr val="B0B0C0"/>
                </a:solidFill>
                <a:latin typeface="Pretendard"/>
              </a:defRPr>
            </a:pPr>
            <a:r>
              <a:t>Cloudflare Tunnel 노출</a:t>
            </a:r>
          </a:p>
          <a:p>
            <a:pPr>
              <a:spcAft>
                <a:spcPts val="700"/>
              </a:spcAft>
              <a:defRPr sz="1400">
                <a:solidFill>
                  <a:srgbClr val="B0B0C0"/>
                </a:solidFill>
                <a:latin typeface="Pretendard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B0B0C0"/>
                </a:solidFill>
                <a:latin typeface="Pretendard"/>
              </a:defRPr>
            </a:pPr>
            <a:r>
              <a:t>RecommendationPort ABC</a:t>
            </a:r>
          </a:p>
          <a:p>
            <a:pPr>
              <a:spcAft>
                <a:spcPts val="700"/>
              </a:spcAft>
              <a:defRPr sz="1400">
                <a:solidFill>
                  <a:srgbClr val="B0B0C0"/>
                </a:solidFill>
                <a:latin typeface="Pretendard"/>
              </a:defRPr>
            </a:pPr>
            <a:r>
              <a:t>  └─ LoraRecommendationOrchestrator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107"/>
                </a:solidFill>
                <a:latin typeface="Pretendard"/>
              </a:defRPr>
            </a:pPr>
            <a:r>
              <a:t>← Tunnel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840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7A9A"/>
                </a:solidFill>
                <a:latin typeface="Pretendard"/>
              </a:defRPr>
            </a:pPr>
            <a:r>
              <a:t>폴백 전환 8초</a:t>
            </a:r>
            <a:br/>
            <a:r>
              <a:t>RECOMMENDATION_</a:t>
            </a:r>
            <a:br/>
            <a:r>
              <a:t>BACKEND=gemini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828800"/>
            <a:ext cx="411480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D6B"/>
                </a:solidFill>
                <a:latin typeface="Pretendard"/>
              </a:defRPr>
            </a:pPr>
            <a:r>
              <a:t>AWS EC2 (m7i-flex.large)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65176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B0B0C0"/>
                </a:solidFill>
                <a:latin typeface="Pretendard"/>
              </a:defRPr>
            </a:pPr>
            <a:r>
              <a:t>GPU 없음 — CPU only</a:t>
            </a:r>
          </a:p>
          <a:p>
            <a:pPr>
              <a:spcAft>
                <a:spcPts val="700"/>
              </a:spcAft>
              <a:defRPr sz="1400">
                <a:solidFill>
                  <a:srgbClr val="B0B0C0"/>
                </a:solidFill>
                <a:latin typeface="Pretendard"/>
              </a:defRPr>
            </a:pPr>
            <a:r>
              <a:t>Docker Compose 배포</a:t>
            </a:r>
          </a:p>
          <a:p>
            <a:pPr>
              <a:spcAft>
                <a:spcPts val="700"/>
              </a:spcAft>
              <a:defRPr sz="1400">
                <a:solidFill>
                  <a:srgbClr val="B0B0C0"/>
                </a:solidFill>
                <a:latin typeface="Pretendard"/>
              </a:defRPr>
            </a:pPr>
            <a:r>
              <a:t>Gemini API 폴백</a:t>
            </a:r>
          </a:p>
          <a:p>
            <a:pPr>
              <a:spcAft>
                <a:spcPts val="700"/>
              </a:spcAft>
              <a:defRPr sz="1400">
                <a:solidFill>
                  <a:srgbClr val="B0B0C0"/>
                </a:solidFill>
                <a:latin typeface="Pretendard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B0B0C0"/>
                </a:solidFill>
                <a:latin typeface="Pretendard"/>
              </a:defRPr>
            </a:pPr>
            <a:r>
              <a:t>RecommendationPort ABC</a:t>
            </a:r>
          </a:p>
          <a:p>
            <a:pPr>
              <a:spcAft>
                <a:spcPts val="700"/>
              </a:spcAft>
              <a:defRPr sz="1400">
                <a:solidFill>
                  <a:srgbClr val="B0B0C0"/>
                </a:solidFill>
                <a:latin typeface="Pretendard"/>
              </a:defRPr>
            </a:pPr>
            <a:r>
              <a:t>  └─ GeminiRecommendationAdapter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6126480"/>
            <a:ext cx="8229600" cy="548640"/>
          </a:xfrm>
          <a:prstGeom prst="roundRect">
            <a:avLst/>
          </a:prstGeom>
          <a:solidFill>
            <a:srgbClr val="0D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6172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3E091"/>
                </a:solidFill>
                <a:latin typeface="Pretendard"/>
              </a:defRPr>
            </a:pPr>
            <a:r>
              <a:t>핵심: 동일한 RecommendationPort 인터페이스 → 환경변수 하나로 전환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9A"/>
                </a:solidFill>
                <a:latin typeface="Pretendard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개인화 추천 파이프라인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56032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17320" y="1920240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965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Pretendard"/>
              </a:defRPr>
            </a:pPr>
            <a:r>
              <a:t>Intent</a:t>
            </a:r>
            <a:br/>
            <a:r>
              <a:t>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정규식 키워드 추출</a:t>
            </a:r>
          </a:p>
          <a:p>
            <a:pPr algn="ctr">
              <a:spcAft>
                <a:spcPts val="6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→ Gemini 폴백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A7A9A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56032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43400" y="1920240"/>
            <a:ext cx="640080" cy="640080"/>
          </a:xfrm>
          <a:prstGeom prst="ellipse">
            <a:avLst/>
          </a:prstGeom>
          <a:solidFill>
            <a:srgbClr val="53E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965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3E091"/>
                </a:solidFill>
                <a:latin typeface="Pretendard"/>
              </a:defRPr>
            </a:pPr>
            <a:r>
              <a:t>후보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749039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태그+배우 교집합</a:t>
            </a:r>
          </a:p>
          <a:p>
            <a:pPr algn="ctr">
              <a:spcAft>
                <a:spcPts val="6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→ 합집합 완화</a:t>
            </a:r>
          </a:p>
          <a:p>
            <a:pPr algn="ctr">
              <a:spcAft>
                <a:spcPts val="6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→ 인기작 폴백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A7A9A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256032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69480" y="192024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1965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107"/>
                </a:solidFill>
                <a:latin typeface="Pretendard"/>
              </a:defRPr>
            </a:pPr>
            <a:r>
              <a:t>Grounded</a:t>
            </a:r>
            <a:br/>
            <a:r>
              <a:t>Prompting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39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movie_id 강제 응답</a:t>
            </a:r>
          </a:p>
          <a:p>
            <a:pPr algn="ctr">
              <a:spcAft>
                <a:spcPts val="6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LLM 환각 차단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A7A9A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645920"/>
            <a:ext cx="256032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95560" y="1920240"/>
            <a:ext cx="640080" cy="640080"/>
          </a:xfrm>
          <a:prstGeom prst="ellipse">
            <a:avLst/>
          </a:prstGeom>
          <a:solidFill>
            <a:srgbClr val="E9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1965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4D6B"/>
                </a:solidFill>
                <a:latin typeface="Pretendard"/>
              </a:defRPr>
            </a:pPr>
            <a:r>
              <a:t>Taste Vector</a:t>
            </a:r>
            <a:br/>
            <a:r>
              <a:t>재정렬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749039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리뷰 별점 가중 임베딩</a:t>
            </a:r>
          </a:p>
          <a:p>
            <a:pPr algn="ctr">
              <a:spcAft>
                <a:spcPts val="600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코사인 유사도 순위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943600"/>
            <a:ext cx="10058400" cy="640080"/>
          </a:xfrm>
          <a:prstGeom prst="roundRect">
            <a:avLst/>
          </a:prstGeom>
          <a:solidFill>
            <a:srgbClr val="0D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989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3E091"/>
                </a:solidFill>
                <a:latin typeface="Pretendard"/>
              </a:defRPr>
            </a:pPr>
            <a:r>
              <a:t>결과: "카탈로그 브라우저" → "개인화 추천 엔진" 전환  |  768d 벡터 공간에서 movies·reviews·taste 정합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9A"/>
                </a:solidFill>
                <a:latin typeface="Pretendard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retendard"/>
              </a:defRPr>
            </a:pPr>
            <a:r>
              <a:t>문제 해결 ① — pgvector HNSW 최적화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371600" cy="1005840"/>
          </a:xfrm>
          <a:prstGeom prst="roundRect">
            <a:avLst/>
          </a:prstGeom>
          <a:solidFill>
            <a:srgbClr val="E9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Pretendard"/>
              </a:defRPr>
            </a:pPr>
            <a:r>
              <a:t>문제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463040"/>
            <a:ext cx="41148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16002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HNSW 인덱스를 생성했는데</a:t>
            </a:r>
          </a:p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시맨틱 검색에서 자동 선택 안 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423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A7A9A"/>
                </a:solidFill>
                <a:latin typeface="Pretendard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371600" cy="10058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Pretendard"/>
              </a:defRPr>
            </a:pPr>
            <a:r>
              <a:t>원인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743200"/>
            <a:ext cx="41148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28803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EXPLAIN ANALYZE: PostgreSQL 플래너가</a:t>
            </a:r>
          </a:p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HNSW cost &gt; seq scan cost로 추정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A7A9A"/>
                </a:solidFill>
                <a:latin typeface="Pretendard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1371600" cy="10058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Pretendard"/>
              </a:defRPr>
            </a:pPr>
            <a:r>
              <a:t>해결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4023360"/>
            <a:ext cx="41148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4160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세션 힌트 SET enable_seqscan = off</a:t>
            </a:r>
          </a:p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강제 전환 후 벤치마크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983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A7A9A"/>
                </a:solidFill>
                <a:latin typeface="Pretendard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371600" cy="1005840"/>
          </a:xfrm>
          <a:prstGeom prst="roundRect">
            <a:avLst/>
          </a:prstGeom>
          <a:solidFill>
            <a:srgbClr val="53E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5321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Pretendard"/>
              </a:defRPr>
            </a:pPr>
            <a:r>
              <a:t>결과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5303520"/>
            <a:ext cx="41148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6.8배 성능 개선 실측</a:t>
            </a:r>
          </a:p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→ 세션 힌트 적용 정당화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1463040"/>
            <a:ext cx="4389120" cy="4754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벤치마크 비교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2743200"/>
            <a:ext cx="3200400" cy="731520"/>
          </a:xfrm>
          <a:prstGeom prst="rect">
            <a:avLst/>
          </a:prstGeom>
          <a:solidFill>
            <a:srgbClr val="E9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Sequential Scan: 680ms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3931920"/>
            <a:ext cx="475488" cy="731520"/>
          </a:xfrm>
          <a:prstGeom prst="rect">
            <a:avLst/>
          </a:prstGeom>
          <a:solidFill>
            <a:srgbClr val="53E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3E091"/>
                </a:solidFill>
                <a:latin typeface="Pretendard"/>
              </a:defRPr>
            </a:pPr>
            <a:r>
              <a:t>HNSW: 100ms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Pretendard"/>
              </a:defRPr>
            </a:pPr>
            <a:r>
              <a:t>6.8x 성능 개선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9A"/>
                </a:solidFill>
                <a:latin typeface="Pretendard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retendard"/>
              </a:defRPr>
            </a:pPr>
            <a:r>
              <a:t>문제 해결 ② — "데이터로 가설 기각"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727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Pretendard"/>
              </a:defRPr>
            </a:pPr>
            <a:r>
              <a:t>가설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20240"/>
            <a:ext cx="41148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0116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추천 실패 6/15건</a:t>
            </a:r>
          </a:p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→ 카탈로그 부족이라 가정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0292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1055 → 2014편 확장 (2배)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91840"/>
            <a:ext cx="548640" cy="548640"/>
          </a:xfrm>
          <a:prstGeom prst="ellipse">
            <a:avLst/>
          </a:prstGeom>
          <a:solidFill>
            <a:srgbClr val="E9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101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4D6B"/>
                </a:solidFill>
                <a:latin typeface="Pretendard"/>
              </a:defRPr>
            </a:pPr>
            <a:r>
              <a:t>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3657600"/>
            <a:ext cx="41148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37490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골든셋 재검증 결과</a:t>
            </a:r>
          </a:p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실패 6건이 1건도 안 풀림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91840"/>
            <a:ext cx="50292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429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search_tag_catalog()가</a:t>
            </a:r>
          </a:p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배우 이름 검색 불가 + top-12 컷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029200"/>
            <a:ext cx="548640" cy="548640"/>
          </a:xfrm>
          <a:prstGeom prst="ellipse">
            <a:avLst/>
          </a:prstGeom>
          <a:solidFill>
            <a:srgbClr val="53E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474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3E091"/>
                </a:solidFill>
                <a:latin typeface="Pretendard"/>
              </a:defRPr>
            </a:pPr>
            <a:r>
              <a:t>전환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5394960"/>
            <a:ext cx="41148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5486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데이터로 증명 후 방향 전환</a:t>
            </a:r>
          </a:p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배우 매칭 + 3단계 후보 완화</a:t>
            </a:r>
          </a:p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+ Grounded Prompting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029200"/>
            <a:ext cx="50292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51663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골든셋 6→9건 통과</a:t>
            </a:r>
          </a:p>
          <a:p>
            <a:pPr>
              <a:defRPr sz="1400">
                <a:solidFill>
                  <a:srgbClr val="B0B0C0"/>
                </a:solidFill>
                <a:latin typeface="Pretendard"/>
              </a:defRPr>
            </a:pPr>
            <a:r>
              <a:t>실사용 버그 해소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6126480"/>
            <a:ext cx="9144000" cy="548640"/>
          </a:xfrm>
          <a:prstGeom prst="roundRect">
            <a:avLst/>
          </a:prstGeom>
          <a:solidFill>
            <a:srgbClr val="3A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61722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94D6B"/>
                </a:solidFill>
                <a:latin typeface="Pretendard"/>
              </a:defRPr>
            </a:pPr>
            <a:r>
              <a:t>교훈: 직감이 아니라 데이터로 가설을 검증하고 방향을 바꾸는 것이 가장 중요한 판단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9A"/>
                </a:solidFill>
                <a:latin typeface="Pretendard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retendard"/>
              </a:defRPr>
            </a:pPr>
            <a:r>
              <a:t>보안 하드닝 — IDOR 5건 전수 조사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D6B"/>
                </a:solidFill>
                <a:latin typeface="Pretendard"/>
              </a:defRPr>
            </a:pPr>
            <a:r>
              <a:t>발견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• 리뷰 API 하드닝 중 user_id를 바디에서 그대로 신뢰하는 패턴 발견</a:t>
            </a:r>
          </a:p>
          <a:p>
            <a:pPr>
              <a:spcAft>
                <a:spcPts val="519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• 라우터 60개 전수 조사 → 동일 유형 5건</a:t>
            </a:r>
          </a:p>
          <a:p>
            <a:pPr>
              <a:spcAft>
                <a:spcPts val="519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• /mova/watchlist/* — 남의 찜 목록 읽기/쓰기/삭제 가능</a:t>
            </a:r>
          </a:p>
          <a:p>
            <a:pPr>
              <a:spcAft>
                <a:spcPts val="519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• /viewer/profile/{user_id} — 이메일 노출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0292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3E091"/>
                </a:solidFill>
                <a:latin typeface="Pretendard"/>
              </a:defRPr>
            </a:pPr>
            <a:r>
              <a:t>해결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• 모든 엔드포인트: user_id를 JWT 클레임에서만 추출</a:t>
            </a:r>
          </a:p>
          <a:p>
            <a:pPr>
              <a:spcAft>
                <a:spcPts val="519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• 비로그인 챗: optional_user 가드 신설</a:t>
            </a:r>
          </a:p>
          <a:p>
            <a:pPr>
              <a:spcAft>
                <a:spcPts val="519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• .claude/rules/security/auth.md에 체크리스트 5항목 코드화</a:t>
            </a:r>
          </a:p>
          <a:p>
            <a:pPr>
              <a:spcAft>
                <a:spcPts val="519"/>
              </a:spcAft>
              <a:defRPr sz="1300">
                <a:solidFill>
                  <a:srgbClr val="B0B0C0"/>
                </a:solidFill>
                <a:latin typeface="Pretendard"/>
              </a:defRPr>
            </a:pPr>
            <a:r>
              <a:t>• 프로덕션 401/403 전환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Pretendard"/>
              </a:defRPr>
            </a:pPr>
            <a:r>
              <a:t>IDOR 5건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94560"/>
            <a:ext cx="50292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240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Pretendard"/>
              </a:defRPr>
            </a:pPr>
            <a:r>
              <a:t>/mova/mypage/{user_id}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542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A9A"/>
                </a:solidFill>
                <a:latin typeface="Pretendard"/>
              </a:defRPr>
            </a:pPr>
            <a:r>
              <a:t>타인 마이페이지 접근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331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3E091"/>
                </a:solidFill>
                <a:latin typeface="Pretendard"/>
              </a:defRPr>
            </a:pPr>
            <a:r>
              <a:t>FIXED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017520"/>
            <a:ext cx="50292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Pretendard"/>
              </a:defRPr>
            </a:pPr>
            <a:r>
              <a:t>/viewer/profile/{user_id}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64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A9A"/>
                </a:solidFill>
                <a:latin typeface="Pretendard"/>
              </a:defRPr>
            </a:pPr>
            <a:r>
              <a:t>이메일 노출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3154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3E091"/>
                </a:solidFill>
                <a:latin typeface="Pretendard"/>
              </a:defRPr>
            </a:pPr>
            <a:r>
              <a:t>FIXED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840480"/>
            <a:ext cx="50292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886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Pretendard"/>
              </a:defRPr>
            </a:pPr>
            <a:r>
              <a:t>/mova/watchlist/*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187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A9A"/>
                </a:solidFill>
                <a:latin typeface="Pretendard"/>
              </a:defRPr>
            </a:pPr>
            <a:r>
              <a:t>찜 목록 CRUD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977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3E091"/>
                </a:solidFill>
                <a:latin typeface="Pretendard"/>
              </a:defRPr>
            </a:pPr>
            <a:r>
              <a:t>FIXED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663440"/>
            <a:ext cx="50292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709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Pretendard"/>
              </a:defRPr>
            </a:pPr>
            <a:r>
              <a:t>PATCH /mova/picks/.../feedback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0109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A9A"/>
                </a:solidFill>
                <a:latin typeface="Pretendard"/>
              </a:defRPr>
            </a:pPr>
            <a:r>
              <a:t>타인 피드백 수정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4800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3E091"/>
                </a:solidFill>
                <a:latin typeface="Pretendard"/>
              </a:defRPr>
            </a:pPr>
            <a:r>
              <a:t>FIXED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486400"/>
            <a:ext cx="50292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Pretendard"/>
              </a:defRPr>
            </a:pPr>
            <a:r>
              <a:t>POST /mova/chat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833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A9A"/>
                </a:solidFill>
                <a:latin typeface="Pretendard"/>
              </a:defRPr>
            </a:pPr>
            <a:r>
              <a:t>바디 user_id 위조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5623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3E091"/>
                </a:solidFill>
                <a:latin typeface="Pretendard"/>
              </a:defRPr>
            </a:pPr>
            <a:r>
              <a:t>FIXED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9A"/>
                </a:solidFill>
                <a:latin typeface="Pretendard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수치로 보는 MOVA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Pretendard"/>
              </a:defRPr>
            </a:pPr>
            <a:r>
              <a:t>2,014편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B0B0C0"/>
                </a:solidFill>
                <a:latin typeface="Pretendard"/>
              </a:defRPr>
            </a:pPr>
            <a:r>
              <a:t>영화 카탈로그</a:t>
            </a:r>
          </a:p>
          <a:p>
            <a:pPr algn="ctr">
              <a:defRPr sz="1300">
                <a:solidFill>
                  <a:srgbClr val="B0B0C0"/>
                </a:solidFill>
                <a:latin typeface="Pretendard"/>
              </a:defRPr>
            </a:pPr>
            <a:r>
              <a:t>(TMDB + KOFIC)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6304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3E091"/>
                </a:solidFill>
                <a:latin typeface="Pretendard"/>
              </a:defRPr>
            </a:pPr>
            <a:r>
              <a:t>11,945 / 19,348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834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B0B0C0"/>
                </a:solidFill>
                <a:latin typeface="Pretendard"/>
              </a:defRPr>
            </a:pPr>
            <a:r>
              <a:t>배우 / 캐릭터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107"/>
                </a:solidFill>
                <a:latin typeface="Pretendard"/>
              </a:defRPr>
            </a:pPr>
            <a:r>
              <a:t>12개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34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B0B0C0"/>
                </a:solidFill>
                <a:latin typeface="Pretendard"/>
              </a:defRPr>
            </a:pPr>
            <a:r>
              <a:t>백엔드 앱</a:t>
            </a:r>
          </a:p>
          <a:p>
            <a:pPr algn="ctr">
              <a:defRPr sz="1300">
                <a:solidFill>
                  <a:srgbClr val="B0B0C0"/>
                </a:solidFill>
                <a:latin typeface="Pretendard"/>
              </a:defRPr>
            </a:pPr>
            <a:r>
              <a:t>(모듈러 모놀리식)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46304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920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94D6B"/>
                </a:solidFill>
                <a:latin typeface="Pretendard"/>
              </a:defRPr>
            </a:pPr>
            <a:r>
              <a:t>24개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8346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B0B0C0"/>
                </a:solidFill>
                <a:latin typeface="Pretendard"/>
              </a:defRPr>
            </a:pPr>
            <a:r>
              <a:t>Interactor</a:t>
            </a:r>
          </a:p>
          <a:p>
            <a:pPr algn="ctr">
              <a:defRPr sz="1300">
                <a:solidFill>
                  <a:srgbClr val="B0B0C0"/>
                </a:solidFill>
                <a:latin typeface="Pretendard"/>
              </a:defRPr>
            </a:pPr>
            <a:r>
              <a:t>(mova 단독)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B47BC"/>
                </a:solidFill>
                <a:latin typeface="Pretendard"/>
              </a:defRPr>
            </a:pPr>
            <a:r>
              <a:t>547개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94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B0B0C0"/>
                </a:solidFill>
                <a:latin typeface="Pretendard"/>
              </a:defRPr>
            </a:pPr>
            <a:r>
              <a:t>테스트</a:t>
            </a:r>
          </a:p>
          <a:p>
            <a:pPr algn="ctr">
              <a:defRPr sz="1300">
                <a:solidFill>
                  <a:srgbClr val="B0B0C0"/>
                </a:solidFill>
                <a:latin typeface="Pretendard"/>
              </a:defRPr>
            </a:pPr>
            <a:r>
              <a:t>(88파일, mova 218)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02336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44805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7043"/>
                </a:solidFill>
                <a:latin typeface="Pretendard"/>
              </a:defRPr>
            </a:pPr>
            <a:r>
              <a:t>28개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394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B0B0C0"/>
                </a:solidFill>
                <a:latin typeface="Pretendard"/>
              </a:defRPr>
            </a:pPr>
            <a:r>
              <a:t>Alembic</a:t>
            </a:r>
          </a:p>
          <a:p>
            <a:pPr algn="ctr">
              <a:defRPr sz="1300">
                <a:solidFill>
                  <a:srgbClr val="B0B0C0"/>
                </a:solidFill>
                <a:latin typeface="Pretendard"/>
              </a:defRPr>
            </a:pPr>
            <a:r>
              <a:t>마이그레이션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02336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4805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6C6DA"/>
                </a:solidFill>
                <a:latin typeface="Pretendard"/>
              </a:defRPr>
            </a:pPr>
            <a:r>
              <a:t>36개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94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B0B0C0"/>
                </a:solidFill>
                <a:latin typeface="Pretendard"/>
              </a:defRPr>
            </a:pPr>
            <a:r>
              <a:t>ORM 테이블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4023360"/>
            <a:ext cx="25603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44805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909C"/>
                </a:solidFill>
                <a:latin typeface="Pretendard"/>
              </a:defRPr>
            </a:pPr>
            <a:r>
              <a:t>504+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5394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B0B0C0"/>
                </a:solidFill>
                <a:latin typeface="Pretendard"/>
              </a:defRPr>
            </a:pPr>
            <a:r>
              <a:t>커밋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9A"/>
                </a:solidFill>
                <a:latin typeface="Pretendard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향후 로드맵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" cy="1463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73736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556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Pretendard"/>
              </a:defRPr>
            </a:pPr>
            <a:r>
              <a:t>멀티턴 주제 전환 고도화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Pretendard"/>
              </a:defRPr>
            </a:pPr>
            <a:r>
              <a:t>"그 감독의 다른 영화는?" 같은 의도적 맥락 유지 구분 로직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7A9A"/>
                </a:solidFill>
                <a:latin typeface="Pretendard"/>
              </a:defRPr>
            </a:pPr>
            <a:r>
              <a:t>이전 턴 필터 차단은 완료 — 맥락 이어가기 케이스 미구현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1051560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73152" cy="1463040"/>
          </a:xfrm>
          <a:prstGeom prst="rect">
            <a:avLst/>
          </a:prstGeom>
          <a:solidFill>
            <a:srgbClr val="53E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474720"/>
            <a:ext cx="457200" cy="457200"/>
          </a:xfrm>
          <a:prstGeom prst="ellipse">
            <a:avLst/>
          </a:prstGeom>
          <a:solidFill>
            <a:srgbClr val="53E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930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3E091"/>
                </a:solidFill>
                <a:latin typeface="Pretendard"/>
              </a:defRPr>
            </a:pPr>
            <a:r>
              <a:t>Aspect-based 감정분석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49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Pretendard"/>
              </a:defRPr>
            </a:pPr>
            <a:r>
              <a:t>리뷰를 연기·스토리·영상미 축으로 분리해 취향 벡터 정밀도 향상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7A9A"/>
                </a:solidFill>
                <a:latin typeface="Pretendard"/>
              </a:defRPr>
            </a:pPr>
            <a:r>
              <a:t>현재 단일 별점 기반 — 축별 분리로 추천 정확도 개선 기대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1051560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846320"/>
            <a:ext cx="73152" cy="14630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5212080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2303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Pretendard"/>
              </a:defRPr>
            </a:pPr>
            <a:r>
              <a:t>Auth SSO 통합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Pretendard"/>
              </a:defRPr>
            </a:pPr>
            <a:r>
              <a:t>Google/Kakao/Naver OAuth + 이메일 로그인의 동일 이메일 계정 통합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852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7A9A"/>
                </a:solidFill>
                <a:latin typeface="Pretendard"/>
              </a:defRPr>
            </a:pPr>
            <a:r>
              <a:t>현재 별개 계정 생성 — 이메일 기준 통합 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9A"/>
                </a:solidFill>
                <a:latin typeface="Pretendard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Pretendard"/>
              </a:defRPr>
            </a:pPr>
            <a:r>
              <a:t>v2 파이프라인 — 뉴스 기반 AI 리뷰 자동 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7A9A"/>
                </a:solidFill>
                <a:latin typeface="Pretendard"/>
              </a:defRPr>
            </a:pPr>
            <a:r>
              <a:t>harvester 크롤링 → 영화 매칭 → LLM 리뷰 재작성 → 자동 별점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737360"/>
            <a:ext cx="210312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21031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011680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299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Pretendard"/>
              </a:defRPr>
            </a:pPr>
            <a:r>
              <a:t>수집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00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>
                <a:solidFill>
                  <a:srgbClr val="B0B0C0"/>
                </a:solidFill>
                <a:latin typeface="Pretendard"/>
              </a:defRPr>
            </a:pPr>
            <a:r>
              <a:t>kobis 박스오피스</a:t>
            </a:r>
          </a:p>
          <a:p>
            <a:pPr algn="ctr">
              <a:spcAft>
                <a:spcPts val="400"/>
              </a:spcAft>
              <a:defRPr sz="1200">
                <a:solidFill>
                  <a:srgbClr val="B0B0C0"/>
                </a:solidFill>
                <a:latin typeface="Pretendard"/>
              </a:defRPr>
            </a:pPr>
            <a:r>
              <a:t>google_news RSS</a:t>
            </a:r>
          </a:p>
          <a:p>
            <a:pPr algn="ctr">
              <a:spcAft>
                <a:spcPts val="400"/>
              </a:spcAft>
              <a:defRPr sz="1200">
                <a:solidFill>
                  <a:srgbClr val="B0B0C0"/>
                </a:solidFill>
                <a:latin typeface="Pretendard"/>
              </a:defRPr>
            </a:pPr>
            <a:r>
              <a:t>kowiki 등 5개 소스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A7A9A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1737360"/>
            <a:ext cx="210312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1737360"/>
            <a:ext cx="2103120" cy="54864"/>
          </a:xfrm>
          <a:prstGeom prst="rect">
            <a:avLst/>
          </a:prstGeom>
          <a:solidFill>
            <a:srgbClr val="53E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83280" y="2011680"/>
            <a:ext cx="502920" cy="502920"/>
          </a:xfrm>
          <a:prstGeom prst="ellipse">
            <a:avLst/>
          </a:prstGeom>
          <a:solidFill>
            <a:srgbClr val="53E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0299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3E091"/>
                </a:solidFill>
                <a:latin typeface="Pretendard"/>
              </a:defRPr>
            </a:pPr>
            <a:r>
              <a:t>정규화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200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>
                <a:solidFill>
                  <a:srgbClr val="B0B0C0"/>
                </a:solidFill>
                <a:latin typeface="Pretendard"/>
              </a:defRPr>
            </a:pPr>
            <a:r>
              <a:t>ScrapedRecord</a:t>
            </a:r>
          </a:p>
          <a:p>
            <a:pPr algn="ctr">
              <a:spcAft>
                <a:spcPts val="400"/>
              </a:spcAft>
              <a:defRPr sz="1200">
                <a:solidFill>
                  <a:srgbClr val="B0B0C0"/>
                </a:solidFill>
                <a:latin typeface="Pretendard"/>
              </a:defRPr>
            </a:pPr>
            <a:r>
              <a:t>통일 스키마로 변환</a:t>
            </a:r>
          </a:p>
          <a:p>
            <a:pPr algn="ctr">
              <a:spcAft>
                <a:spcPts val="400"/>
              </a:spcAft>
              <a:defRPr sz="1200">
                <a:solidFill>
                  <a:srgbClr val="B0B0C0"/>
                </a:solidFill>
                <a:latin typeface="Pretendard"/>
              </a:defRPr>
            </a:pPr>
            <a:r>
              <a:t>DB 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A7A9A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1737360"/>
            <a:ext cx="210312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1737360"/>
            <a:ext cx="210312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5000" y="2011680"/>
            <a:ext cx="502920" cy="5029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20299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107"/>
                </a:solidFill>
                <a:latin typeface="Pretendard"/>
              </a:defRPr>
            </a:pPr>
            <a:r>
              <a:t>매칭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200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>
                <a:solidFill>
                  <a:srgbClr val="B0B0C0"/>
                </a:solidFill>
                <a:latin typeface="Pretendard"/>
              </a:defRPr>
            </a:pPr>
            <a:r>
              <a:t>기사 ↔ 영화</a:t>
            </a:r>
          </a:p>
          <a:p>
            <a:pPr algn="ctr">
              <a:spcAft>
                <a:spcPts val="400"/>
              </a:spcAft>
              <a:defRPr sz="1200">
                <a:solidFill>
                  <a:srgbClr val="B0B0C0"/>
                </a:solidFill>
                <a:latin typeface="Pretendard"/>
              </a:defRPr>
            </a:pPr>
            <a:r>
              <a:t>제목·키워드 매칭</a:t>
            </a:r>
          </a:p>
          <a:p>
            <a:pPr algn="ctr">
              <a:spcAft>
                <a:spcPts val="400"/>
              </a:spcAft>
              <a:defRPr sz="1200">
                <a:solidFill>
                  <a:srgbClr val="B0B0C0"/>
                </a:solidFill>
                <a:latin typeface="Pretendard"/>
              </a:defRPr>
            </a:pPr>
            <a:r>
              <a:t>카탈로그 연결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A7A9A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1737360"/>
            <a:ext cx="210312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69480" y="1737360"/>
            <a:ext cx="2103120" cy="54864"/>
          </a:xfrm>
          <a:prstGeom prst="rect">
            <a:avLst/>
          </a:prstGeom>
          <a:solidFill>
            <a:srgbClr val="E9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46720" y="2011680"/>
            <a:ext cx="502920" cy="502920"/>
          </a:xfrm>
          <a:prstGeom prst="ellipse">
            <a:avLst/>
          </a:prstGeom>
          <a:solidFill>
            <a:srgbClr val="E9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20299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4D6B"/>
                </a:solidFill>
                <a:latin typeface="Pretendard"/>
              </a:defRPr>
            </a:pPr>
            <a:r>
              <a:t>생성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200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>
                <a:solidFill>
                  <a:srgbClr val="B0B0C0"/>
                </a:solidFill>
                <a:latin typeface="Pretendard"/>
              </a:defRPr>
            </a:pPr>
            <a:r>
              <a:t>LLM 리뷰 톤 재작성</a:t>
            </a:r>
          </a:p>
          <a:p>
            <a:pPr algn="ctr">
              <a:spcAft>
                <a:spcPts val="400"/>
              </a:spcAft>
              <a:defRPr sz="1200">
                <a:solidFill>
                  <a:srgbClr val="B0B0C0"/>
                </a:solidFill>
                <a:latin typeface="Pretendard"/>
              </a:defRPr>
            </a:pPr>
            <a:r>
              <a:t>Gemini / EXAONE</a:t>
            </a:r>
          </a:p>
          <a:p>
            <a:pPr algn="ctr">
              <a:spcAft>
                <a:spcPts val="400"/>
              </a:spcAft>
              <a:defRPr sz="1200">
                <a:solidFill>
                  <a:srgbClr val="B0B0C0"/>
                </a:solidFill>
                <a:latin typeface="Pretendard"/>
              </a:defRPr>
            </a:pPr>
            <a:r>
              <a:t>Grounded Prompting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A7A9A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1737360"/>
            <a:ext cx="210312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1200" y="1737360"/>
            <a:ext cx="2103120" cy="54864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78440" y="2011680"/>
            <a:ext cx="502920" cy="502920"/>
          </a:xfrm>
          <a:prstGeom prst="ellips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78440" y="20299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Pretendard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B47BC"/>
                </a:solidFill>
                <a:latin typeface="Pretendard"/>
              </a:defRPr>
            </a:pPr>
            <a:r>
              <a:t>분석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3200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>
                <a:solidFill>
                  <a:srgbClr val="B0B0C0"/>
                </a:solidFill>
                <a:latin typeface="Pretendard"/>
              </a:defRPr>
            </a:pPr>
            <a:r>
              <a:t>감정분석 연계</a:t>
            </a:r>
          </a:p>
          <a:p>
            <a:pPr algn="ctr">
              <a:spcAft>
                <a:spcPts val="400"/>
              </a:spcAft>
              <a:defRPr sz="1200">
                <a:solidFill>
                  <a:srgbClr val="B0B0C0"/>
                </a:solidFill>
                <a:latin typeface="Pretendard"/>
              </a:defRPr>
            </a:pPr>
            <a:r>
              <a:t>자동 별점 생성</a:t>
            </a:r>
          </a:p>
          <a:p>
            <a:pPr algn="ctr">
              <a:spcAft>
                <a:spcPts val="400"/>
              </a:spcAft>
              <a:defRPr sz="1200">
                <a:solidFill>
                  <a:srgbClr val="B0B0C0"/>
                </a:solidFill>
                <a:latin typeface="Pretendard"/>
              </a:defRPr>
            </a:pPr>
            <a:r>
              <a:t>(계획 중)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120640"/>
            <a:ext cx="347472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212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Pretendard"/>
              </a:defRPr>
            </a:pPr>
            <a:r>
              <a:t>스케줄러 운영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5778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B0B0C0"/>
                </a:solidFill>
                <a:latin typeface="Pretendard"/>
              </a:defRPr>
            </a:pPr>
            <a:r>
              <a:t>• 일일 수집 (5개 소스, 주기 1일)</a:t>
            </a:r>
          </a:p>
          <a:p>
            <a:pPr>
              <a:spcAft>
                <a:spcPts val="330"/>
              </a:spcAft>
              <a:defRPr sz="1100">
                <a:solidFill>
                  <a:srgbClr val="B0B0C0"/>
                </a:solidFill>
                <a:latin typeface="Pretendard"/>
              </a:defRPr>
            </a:pPr>
            <a:r>
              <a:t>• ScrapedRecord 정규화 저장</a:t>
            </a:r>
          </a:p>
          <a:p>
            <a:pPr>
              <a:spcAft>
                <a:spcPts val="330"/>
              </a:spcAft>
              <a:defRPr sz="1100">
                <a:solidFill>
                  <a:srgbClr val="B0B0C0"/>
                </a:solidFill>
                <a:latin typeface="Pretendard"/>
              </a:defRPr>
            </a:pPr>
            <a:r>
              <a:t>• 영화별 기사 자동 매칭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06240" y="5120640"/>
            <a:ext cx="347472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212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3E091"/>
                </a:solidFill>
                <a:latin typeface="Pretendard"/>
              </a:defRPr>
            </a:pPr>
            <a:r>
              <a:t>v2 추가 계획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55778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B0B0C0"/>
                </a:solidFill>
                <a:latin typeface="Pretendard"/>
              </a:defRPr>
            </a:pPr>
            <a:r>
              <a:t>• 멀티턴 주제 전환 감지</a:t>
            </a:r>
          </a:p>
          <a:p>
            <a:pPr>
              <a:spcAft>
                <a:spcPts val="330"/>
              </a:spcAft>
              <a:defRPr sz="1100">
                <a:solidFill>
                  <a:srgbClr val="B0B0C0"/>
                </a:solidFill>
                <a:latin typeface="Pretendard"/>
              </a:defRPr>
            </a:pPr>
            <a:r>
              <a:t>• Aspect-based 감정분석</a:t>
            </a:r>
          </a:p>
          <a:p>
            <a:pPr>
              <a:spcAft>
                <a:spcPts val="330"/>
              </a:spcAft>
              <a:defRPr sz="1100">
                <a:solidFill>
                  <a:srgbClr val="B0B0C0"/>
                </a:solidFill>
                <a:latin typeface="Pretendard"/>
              </a:defRPr>
            </a:pPr>
            <a:r>
              <a:t>• Auth SSO 완성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5279" y="5120640"/>
            <a:ext cx="3474720" cy="1371600"/>
          </a:xfrm>
          <a:prstGeom prst="roundRect">
            <a:avLst/>
          </a:prstGeom>
          <a:solidFill>
            <a:srgbClr val="0D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5212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Pretendard"/>
              </a:defRPr>
            </a:pPr>
            <a:r>
              <a:t>목표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55778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FFC107"/>
                </a:solidFill>
                <a:latin typeface="Pretendard"/>
              </a:defRPr>
            </a:pPr>
            <a:r>
              <a:t>"크롤링 → 리뷰 생성" 완전 자동화</a:t>
            </a:r>
          </a:p>
          <a:p>
            <a:pPr>
              <a:spcAft>
                <a:spcPts val="330"/>
              </a:spcAft>
              <a:defRPr sz="1100">
                <a:solidFill>
                  <a:srgbClr val="FFC107"/>
                </a:solidFill>
                <a:latin typeface="Pretendard"/>
              </a:defRPr>
            </a:pPr>
            <a:r>
              <a:t>감정분석 기반 자동 별점 → 추천 정밀도 향상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9A"/>
                </a:solidFill>
                <a:latin typeface="Pretendard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00D2FF"/>
                </a:solidFill>
                <a:latin typeface="Pretendard"/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41148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Pretendard"/>
              </a:defRPr>
            </a:pPr>
            <a:r>
              <a:t>감사합니다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5303520"/>
            <a:ext cx="5029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0" y="5440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Pretendard"/>
              </a:defRPr>
            </a:pPr>
            <a:r>
              <a:t>ssuvisdev@gmail.com  |  github.com/suvisdev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7A9A"/>
                </a:solidFill>
                <a:latin typeface="Pretendard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